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GLOBAL SUPERSTORE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DCE6F0"/>
                </a:solidFill>
                <a:latin typeface="Aptos"/>
              </a:rPr>
              <a:t>Executive Decision Report &amp; Business Intelligence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1A636"/>
                </a:solidFill>
                <a:latin typeface="Aptos"/>
              </a:rPr>
              <a:t>Data-Driven Insights for Revenue Growth, Profitability &amp; Business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Prepared by: Samiksha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September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1920240" cy="64008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Strong business scale: 51,290 transaction records, approximately $12.64M sales and $1.47M profit.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Technology is the leading sales category in the current dashboard.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Profitability differs across categories and sub-categories, showing that revenue and margin need to be managed together.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Monthly sales show an overall upward long-term pattern with periodic fluctuations.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Business opportunity: grow high-performing areas while strengthening margin and product-level controls.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Business Problem &amp; Analytical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Business problem: management needs a consolidated view of sales, profitability, products, markets and segments to support business decisions.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01 — Measure performance: sales, profit, orders, average order value and margin.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02 — Identify revenue drivers: categories, products, regions and segments.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03 — Understand profitability: compare profit and margin across product groups.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04 — Support decisions: convert analytical findings into measurable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Data &amp; Analytical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Dataset: Global Superstore Orders.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51,290 records and 24 columns; analysis period 2011–2014.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Key measures: Sales, Profit, Quantity, Discount and Shipping Cost.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Dimensions: Category, Sub-Category, Region, Country and Segment.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Workflow: Raw Data → Cleaning → Transformation → EDA → KPI Analysis → Interactive Dashboard → Recommendations.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Tools: Python, Pandas, Matplotlib/Plotly, Streamlit and Excel.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Business Performance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234440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E78"/>
                </a:solidFill>
                <a:latin typeface="Aptos"/>
              </a:rP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F32"/>
                </a:solidFill>
                <a:latin typeface="Aptos"/>
              </a:rPr>
              <a:t>$12.64M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41732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1417320"/>
            <a:ext cx="64008" cy="1234440"/>
          </a:xfrm>
          <a:prstGeom prst="rect">
            <a:avLst/>
          </a:prstGeom>
          <a:solidFill>
            <a:srgbClr val="3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600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E78"/>
                </a:solidFill>
                <a:latin typeface="Aptos"/>
              </a:rPr>
              <a:t>TOTAL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4767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F32"/>
                </a:solidFill>
                <a:latin typeface="Aptos"/>
              </a:rPr>
              <a:t>$1.47M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41732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417320"/>
            <a:ext cx="64008" cy="1234440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600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E78"/>
                </a:solidFill>
                <a:latin typeface="Aptos"/>
              </a:rPr>
              <a:t>TOTAL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94767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F32"/>
                </a:solidFill>
                <a:latin typeface="Aptos"/>
              </a:rPr>
              <a:t>25,035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41732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1417320"/>
            <a:ext cx="64008" cy="1234440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59" y="1600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E78"/>
                </a:solidFill>
                <a:latin typeface="Aptos"/>
              </a:rPr>
              <a:t>AVERAGE ORDER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194767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F32"/>
                </a:solidFill>
                <a:latin typeface="Aptos"/>
              </a:rPr>
              <a:t>$504.99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41732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84080" y="1417320"/>
            <a:ext cx="64008" cy="1234440"/>
          </a:xfrm>
          <a:prstGeom prst="rect">
            <a:avLst/>
          </a:prstGeom>
          <a:solidFill>
            <a:srgbClr val="3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59" y="1600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E78"/>
                </a:solidFill>
                <a:latin typeface="Aptos"/>
              </a:rPr>
              <a:t>PROFIT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194767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F32"/>
                </a:solidFill>
                <a:latin typeface="Aptos"/>
              </a:rPr>
              <a:t>11.61%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154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21F32"/>
                </a:solidFill>
                <a:latin typeface="Aptos"/>
              </a:rPr>
              <a:t>The business generates substantial sales volume and positive overall profitability, providing a foundation for targeted growth and margin improvement.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Sales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Monthly sales from 2011–2014 show an overall upward trajectory.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Performance varies by month, with periods of decline followed by recovery.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Later periods reach substantially higher monthly sales levels than the beginning of the dataset.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Management implication: monthly monitoring can support inventory, promotion and resource planning.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What Drives Revenue?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6537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62D37"/>
                </a:solidFill>
                <a:latin typeface="Aptos"/>
              </a:defRPr>
            </a:pPr>
            <a:r>
              <a:t>• Technology is the highest-sales category in the dashboard.</a:t>
            </a:r>
          </a:p>
          <a:p>
            <a:pPr>
              <a:spcAft>
                <a:spcPts val="1400"/>
              </a:spcAft>
              <a:defRPr sz="1600">
                <a:solidFill>
                  <a:srgbClr val="262D37"/>
                </a:solidFill>
                <a:latin typeface="Aptos"/>
              </a:defRPr>
            </a:pPr>
            <a:r>
              <a:t>• Office Supplies provides a broad and significant sales contribution.</a:t>
            </a:r>
          </a:p>
          <a:p>
            <a:pPr>
              <a:spcAft>
                <a:spcPts val="1400"/>
              </a:spcAft>
              <a:defRPr sz="1600">
                <a:solidFill>
                  <a:srgbClr val="262D37"/>
                </a:solidFill>
                <a:latin typeface="Aptos"/>
              </a:defRPr>
            </a:pPr>
            <a:r>
              <a:t>• Furniture contributes meaningful revenue and is important for profitability analysis.</a:t>
            </a:r>
          </a:p>
          <a:p>
            <a:pPr>
              <a:spcAft>
                <a:spcPts val="1400"/>
              </a:spcAft>
              <a:defRPr sz="1600">
                <a:solidFill>
                  <a:srgbClr val="262D37"/>
                </a:solidFill>
                <a:latin typeface="Aptos"/>
              </a:defRPr>
            </a:pPr>
            <a:r>
              <a:t>• Top-sales products shown in the dashboard include iPhone, Samsung Galaxy, Google Pixel, OnePlus and MacBook Pro.</a:t>
            </a:r>
          </a:p>
          <a:p>
            <a:pPr>
              <a:spcAft>
                <a:spcPts val="1400"/>
              </a:spcAft>
              <a:defRPr sz="1600">
                <a:solidFill>
                  <a:srgbClr val="262D37"/>
                </a:solidFill>
                <a:latin typeface="Aptos"/>
              </a:defRPr>
            </a:pPr>
            <a:r>
              <a:t>• Management implication: monitor high-contribution products for demand, inventory and promotion decisions.</a:t>
            </a:r>
          </a:p>
        </p:txBody>
      </p:sp>
      <p:pic>
        <p:nvPicPr>
          <p:cNvPr id="6" name="Picture 5" descr="Global Superstore Analytics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069080" cy="21793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24927" y="1298448"/>
            <a:ext cx="4123944" cy="4983480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Profitability &amp; Margin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6537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62D37"/>
                </a:solidFill>
                <a:latin typeface="Aptos"/>
              </a:defRPr>
            </a:pPr>
            <a:r>
              <a:t>• Overall profit is approximately $1.47M with an overall margin of 11.61%.</a:t>
            </a:r>
          </a:p>
          <a:p>
            <a:pPr>
              <a:spcAft>
                <a:spcPts val="1400"/>
              </a:spcAft>
              <a:defRPr sz="1600">
                <a:solidFill>
                  <a:srgbClr val="262D37"/>
                </a:solidFill>
                <a:latin typeface="Aptos"/>
              </a:defRPr>
            </a:pPr>
            <a:r>
              <a:t>• Technology has the highest sales contribution, while Furniture shows the highest profit margin in the dashboard.</a:t>
            </a:r>
          </a:p>
          <a:p>
            <a:pPr>
              <a:spcAft>
                <a:spcPts val="1400"/>
              </a:spcAft>
              <a:defRPr sz="1600">
                <a:solidFill>
                  <a:srgbClr val="262D37"/>
                </a:solidFill>
                <a:latin typeface="Aptos"/>
              </a:defRPr>
            </a:pPr>
            <a:r>
              <a:t>• Top profit sub-categories shown include Phones (~$317K), Chairs (~$286K), Storage (~$250K), Tables (~$210K) and Binders (~$178K).</a:t>
            </a:r>
          </a:p>
          <a:p>
            <a:pPr>
              <a:spcAft>
                <a:spcPts val="1400"/>
              </a:spcAft>
              <a:defRPr sz="1600">
                <a:solidFill>
                  <a:srgbClr val="262D37"/>
                </a:solidFill>
                <a:latin typeface="Aptos"/>
              </a:defRPr>
            </a:pPr>
            <a:r>
              <a:t>• Key insight: high sales volume and high profitability are not necessarily concentrated in the same product groups.</a:t>
            </a:r>
          </a:p>
        </p:txBody>
      </p:sp>
      <p:pic>
        <p:nvPicPr>
          <p:cNvPr id="6" name="Picture 5" descr="Global Superstore Analytics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069080" cy="21793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24927" y="1298448"/>
            <a:ext cx="4123944" cy="4983480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Geographic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The dataset covers sales across multiple countries and regions.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Performance varies across markets, creating opportunities for targeted allocation of marketing and inventory resources.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Country and regional views should be monitored alongside category and segment performance.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Management implication: avoid applying identical commercial strategies across all markets.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Product &amp; Sub-Category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6537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62D37"/>
                </a:solidFill>
                <a:latin typeface="Aptos"/>
              </a:defRPr>
            </a:pPr>
            <a:r>
              <a:t>• Top products by sales shown in the dashboard include iPhone (~$739K), Samsung Galaxy (~$694K), Google Pixel (~$620K), OnePlus (~$587K) and MacBook Pro (~$520K).</a:t>
            </a:r>
          </a:p>
          <a:p>
            <a:pPr>
              <a:spcAft>
                <a:spcPts val="1400"/>
              </a:spcAft>
              <a:defRPr sz="1600">
                <a:solidFill>
                  <a:srgbClr val="262D37"/>
                </a:solidFill>
                <a:latin typeface="Aptos"/>
              </a:defRPr>
            </a:pPr>
            <a:r>
              <a:t>• Profit leaders include Phones, Chairs, Storage, Tables and Binders.</a:t>
            </a:r>
          </a:p>
          <a:p>
            <a:pPr>
              <a:spcAft>
                <a:spcPts val="1400"/>
              </a:spcAft>
              <a:defRPr sz="1600">
                <a:solidFill>
                  <a:srgbClr val="262D37"/>
                </a:solidFill>
                <a:latin typeface="Aptos"/>
              </a:defRPr>
            </a:pPr>
            <a:r>
              <a:t>• Product-level analysis shows that the products generating the most revenue and the products generating the most profit should be managed using different performance criteria.</a:t>
            </a:r>
          </a:p>
        </p:txBody>
      </p:sp>
      <p:pic>
        <p:nvPicPr>
          <p:cNvPr id="6" name="Picture 5" descr="Global Superstore Analytics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069080" cy="21793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24927" y="1298448"/>
            <a:ext cx="4123944" cy="4983480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Key Risk Areas &amp;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RISK — Margin pressure: overall margin is 11.61%, so discount and pricing decisions require monitoring.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RISK — Performance variation: monthly sales fluctuate considerably.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RISK — Product concentration: a limited group of products contributes substantial sales.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OPPORTUNITY — Margin optimization through discount/profit monitoring.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OPPORTUNITY — Technology growth through targeted campaigns and inventory availability.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OPPORTUNITY — Product portfolio optimization and continuous KPI monitoring.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Recommendation 1 — Strengthen Margin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Action: establish a margin monitoring framework using Discount %, Sales, Profit, Margin, Product, Sub-Category and Region.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Phase 1: identify low-margin products and discount patterns.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Phase 2: establish margin thresholds and review exceptions.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Phase 3: monitor results monthly through the dashboard.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Illustrative scenario: a 1 percentage-point margin improvement at current sales equals approximately $126,425 additional profit.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Scenario only — not a guaranteed forecast.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Recommendation 2 — Expand High-Performing Technology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Evidence: Technology is the highest-sales category in the dashboard.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Action: focus growth initiatives on high-performing technology products, cross-selling, bundles, targeted promotions and inventory availability.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Illustrative scenario: a 5% increase on approximately $3.7M technology sales represents about $185K additional sales.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At the current 11.61% overall margin, this is approximately $21.5K additional profit.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Scenario only — actual results depend on implementation and realized margin.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Recommendation 3 — Optimize Product &amp; Order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Current baseline: 25,035 orders and $504.99 average order value.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Action: increase order value through bundles, complementary products, premium recommendations and targeted offers.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Illustrative scenario: a 3% AOV increase raises AOV to about $520.14.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Across 25,035 orders, this represents approximately $379K additional sales.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At the current overall margin, the equivalent profit impact is approximately $44K.</a:t>
            </a:r>
          </a:p>
          <a:p>
            <a:pPr>
              <a:spcAft>
                <a:spcPts val="1400"/>
              </a:spcAft>
              <a:defRPr sz="1700">
                <a:solidFill>
                  <a:srgbClr val="262D37"/>
                </a:solidFill>
                <a:latin typeface="Aptos"/>
              </a:defRPr>
            </a:pPr>
            <a:r>
              <a:t>• Scenario only — actual results depend on adoption and realized margin.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1F32"/>
                </a:solidFill>
                <a:latin typeface="Aptos"/>
              </a:rPr>
              <a:t>ROI Scenarios &amp; 90-Day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93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46E78"/>
                </a:solidFill>
                <a:latin typeface="Aptos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64008" cy="1188720"/>
          </a:xfrm>
          <a:prstGeom prst="rect">
            <a:avLst/>
          </a:prstGeom>
          <a:solidFill>
            <a:srgbClr val="3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E78"/>
                </a:solidFill>
                <a:latin typeface="Aptos"/>
              </a:rPr>
              <a:t>1% MARGIN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F32"/>
                </a:solidFill>
                <a:latin typeface="Aptos"/>
              </a:rPr>
              <a:t>+$126K PROFIT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64008" cy="1188720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63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E78"/>
                </a:solidFill>
                <a:latin typeface="Aptos"/>
              </a:rPr>
              <a:t>5% TECHNOLOGY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105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F32"/>
                </a:solidFill>
                <a:latin typeface="Aptos"/>
              </a:rPr>
              <a:t>+$185K SALES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64008" cy="1188720"/>
          </a:xfrm>
          <a:prstGeom prst="rect">
            <a:avLst/>
          </a:prstGeom>
          <a:solidFill>
            <a:srgbClr val="E1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463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E78"/>
                </a:solidFill>
                <a:latin typeface="Aptos"/>
              </a:rPr>
              <a:t>3% AOV IMPROVEMENT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8105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F32"/>
                </a:solidFill>
                <a:latin typeface="Aptos"/>
              </a:rPr>
              <a:t>+$379K SALES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8036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90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1A636"/>
                </a:solidFill>
                <a:latin typeface="Aptos"/>
              </a:rPr>
              <a:t>0–30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1F32"/>
                </a:solidFill>
                <a:latin typeface="Aptos"/>
              </a:rPr>
              <a:t>DIAGNOSE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2D37"/>
                </a:solidFill>
                <a:latin typeface="Aptos"/>
              </a:rPr>
              <a:t>Baseline, low-margin products, discount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88036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090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1A636"/>
                </a:solidFill>
                <a:latin typeface="Aptos"/>
              </a:rPr>
              <a:t>31–60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1F32"/>
                </a:solidFill>
                <a:latin typeface="Aptos"/>
              </a:rPr>
              <a:t>IMPLEMENT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88620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2D37"/>
                </a:solidFill>
                <a:latin typeface="Aptos"/>
              </a:rPr>
              <a:t>Monitoring, campaigns, bundles, market reviews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288036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090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1A636"/>
                </a:solidFill>
                <a:latin typeface="Aptos"/>
              </a:rPr>
              <a:t>61–90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1F32"/>
                </a:solidFill>
                <a:latin typeface="Aptos"/>
              </a:rPr>
              <a:t>OPTIMIZE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88620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2D37"/>
                </a:solidFill>
                <a:latin typeface="Aptos"/>
              </a:rPr>
              <a:t>Compare results, scale, adjust and review ROI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21F32"/>
                </a:solidFill>
                <a:latin typeface="Aptos"/>
              </a:rPr>
              <a:t>Final message: use the dashboard as a continuous decision-support system, not only as a reporting tool.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Global Superstore Analytics | Executive Decision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6E78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